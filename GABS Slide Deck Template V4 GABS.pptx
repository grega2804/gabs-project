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92"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embeddedFontLst>
    <p:embeddedFont>
      <p:font typeface="Arial Black" panose="020B0A04020102020204" pitchFamily="3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jzDJTChASh8ZWQzp68RVJr6bb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79"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44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sz="1800"/>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sz="1800"/>
            </a:lvl3pPr>
            <a:lvl4pPr marL="1828800" lvl="3" indent="-342900" algn="l">
              <a:lnSpc>
                <a:spcPct val="90000"/>
              </a:lnSpc>
              <a:spcBef>
                <a:spcPts val="500"/>
              </a:spcBef>
              <a:spcAft>
                <a:spcPts val="0"/>
              </a:spcAft>
              <a:buClr>
                <a:schemeClr val="dk1"/>
              </a:buClr>
              <a:buSzPts val="1800"/>
              <a:buChar char="•"/>
              <a:defRPr sz="1800"/>
            </a:lvl4pPr>
            <a:lvl5pPr marL="2286000" lvl="4" indent="-342900" algn="l">
              <a:lnSpc>
                <a:spcPct val="90000"/>
              </a:lnSpc>
              <a:spcBef>
                <a:spcPts val="5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31"/>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37" name="Google Shape;37;p31"/>
          <p:cNvSpPr txBox="1">
            <a:spLocks noGrp="1"/>
          </p:cNvSpPr>
          <p:nvPr>
            <p:ph type="body" idx="2"/>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32"/>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43" name="Google Shape;43;p32"/>
          <p:cNvSpPr txBox="1">
            <a:spLocks noGrp="1"/>
          </p:cNvSpPr>
          <p:nvPr>
            <p:ph type="body" idx="2"/>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3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33"/>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50" name="Google Shape;50;p33"/>
          <p:cNvSpPr txBox="1">
            <a:spLocks noGrp="1"/>
          </p:cNvSpPr>
          <p:nvPr>
            <p:ph type="body" idx="3"/>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34"/>
          <p:cNvSpPr txBox="1">
            <a:spLocks noGrp="1"/>
          </p:cNvSpPr>
          <p:nvPr>
            <p:ph type="title"/>
          </p:nvPr>
        </p:nvSpPr>
        <p:spPr>
          <a:xfrm>
            <a:off x="839788" y="365125"/>
            <a:ext cx="835992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4"/>
          <p:cNvSpPr txBox="1">
            <a:spLocks noGrp="1"/>
          </p:cNvSpPr>
          <p:nvPr>
            <p:ph type="body" idx="1"/>
          </p:nvPr>
        </p:nvSpPr>
        <p:spPr>
          <a:xfrm>
            <a:off x="839788" y="1754187"/>
            <a:ext cx="5157787" cy="75088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4"/>
          <p:cNvSpPr txBox="1">
            <a:spLocks noGrp="1"/>
          </p:cNvSpPr>
          <p:nvPr>
            <p:ph type="body" idx="3"/>
          </p:nvPr>
        </p:nvSpPr>
        <p:spPr>
          <a:xfrm>
            <a:off x="6172200" y="1754187"/>
            <a:ext cx="5183188" cy="750887"/>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34"/>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59" name="Google Shape;59;p34"/>
          <p:cNvSpPr txBox="1">
            <a:spLocks noGrp="1"/>
          </p:cNvSpPr>
          <p:nvPr>
            <p:ph type="body" idx="5"/>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35"/>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35"/>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64" name="Google Shape;64;p35"/>
          <p:cNvSpPr txBox="1">
            <a:spLocks noGrp="1"/>
          </p:cNvSpPr>
          <p:nvPr>
            <p:ph type="body" idx="1"/>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7"/>
          <p:cNvSpPr txBox="1">
            <a:spLocks noGrp="1"/>
          </p:cNvSpPr>
          <p:nvPr>
            <p:ph type="body" idx="1"/>
          </p:nvPr>
        </p:nvSpPr>
        <p:spPr>
          <a:xfrm>
            <a:off x="5183188" y="1754188"/>
            <a:ext cx="6172200" cy="410686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3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37"/>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71" name="Google Shape;71;p37"/>
          <p:cNvSpPr txBox="1">
            <a:spLocks noGrp="1"/>
          </p:cNvSpPr>
          <p:nvPr>
            <p:ph type="body" idx="3"/>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8"/>
          <p:cNvSpPr>
            <a:spLocks noGrp="1"/>
          </p:cNvSpPr>
          <p:nvPr>
            <p:ph type="pic" idx="2"/>
          </p:nvPr>
        </p:nvSpPr>
        <p:spPr>
          <a:xfrm>
            <a:off x="5183188" y="1754188"/>
            <a:ext cx="6172200" cy="4106862"/>
          </a:xfrm>
          <a:prstGeom prst="rect">
            <a:avLst/>
          </a:prstGeom>
          <a:noFill/>
          <a:ln>
            <a:noFill/>
          </a:ln>
        </p:spPr>
      </p:sp>
      <p:sp>
        <p:nvSpPr>
          <p:cNvPr id="75" name="Google Shape;75;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38"/>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78" name="Google Shape;78;p38"/>
          <p:cNvSpPr txBox="1">
            <a:spLocks noGrp="1"/>
          </p:cNvSpPr>
          <p:nvPr>
            <p:ph type="body" idx="3"/>
          </p:nvPr>
        </p:nvSpPr>
        <p:spPr>
          <a:xfrm>
            <a:off x="9199708" y="0"/>
            <a:ext cx="2987675" cy="1754188"/>
          </a:xfrm>
          <a:prstGeom prst="rect">
            <a:avLst/>
          </a:prstGeom>
          <a:noFill/>
          <a:ln w="9525" cap="flat" cmpd="sng">
            <a:solidFill>
              <a:srgbClr val="595959"/>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SzPts val="2800"/>
              <a:buNone/>
              <a:defRPr>
                <a:solidFill>
                  <a:srgbClr val="595959"/>
                </a:solidFill>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2060"/>
              </a:buClr>
              <a:buSzPts val="4400"/>
              <a:buFont typeface="Calibri"/>
              <a:buNone/>
              <a:defRPr sz="4400" b="0" i="0" u="none" strike="noStrike" cap="none">
                <a:solidFill>
                  <a:srgbClr val="00206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sldNum" idx="12"/>
          </p:nvPr>
        </p:nvSpPr>
        <p:spPr>
          <a:xfrm>
            <a:off x="9732723" y="6356350"/>
            <a:ext cx="800622"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29"/>
          <p:cNvSpPr txBox="1"/>
          <p:nvPr/>
        </p:nvSpPr>
        <p:spPr>
          <a:xfrm>
            <a:off x="10648950" y="6356350"/>
            <a:ext cx="14097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0C437A"/>
                </a:solidFill>
                <a:latin typeface="Arial Black"/>
                <a:ea typeface="Arial Black"/>
                <a:cs typeface="Arial Black"/>
                <a:sym typeface="Arial Black"/>
              </a:rPr>
              <a:t>Palva Lab</a:t>
            </a:r>
            <a:endParaRPr sz="1800" b="0" i="0" u="none" strike="noStrike" cap="none">
              <a:solidFill>
                <a:schemeClr val="dk1"/>
              </a:solidFill>
              <a:latin typeface="Calibri"/>
              <a:ea typeface="Calibri"/>
              <a:cs typeface="Calibri"/>
              <a:sym typeface="Calibri"/>
            </a:endParaRPr>
          </a:p>
        </p:txBody>
      </p:sp>
      <p:pic>
        <p:nvPicPr>
          <p:cNvPr id="14" name="Google Shape;14;p29" descr="Avatar Icon Placeholder - Free vector graphic on Pixabay"/>
          <p:cNvPicPr preferRelativeResize="0"/>
          <p:nvPr/>
        </p:nvPicPr>
        <p:blipFill rotWithShape="1">
          <a:blip r:embed="rId9">
            <a:alphaModFix/>
          </a:blip>
          <a:srcRect/>
          <a:stretch/>
        </p:blipFill>
        <p:spPr>
          <a:xfrm>
            <a:off x="133350" y="6356350"/>
            <a:ext cx="364299" cy="364299"/>
          </a:xfrm>
          <a:prstGeom prst="rect">
            <a:avLst/>
          </a:prstGeom>
          <a:noFill/>
          <a:ln>
            <a:noFill/>
          </a:ln>
        </p:spPr>
      </p:pic>
      <p:sp>
        <p:nvSpPr>
          <p:cNvPr id="15" name="Google Shape;15;p29"/>
          <p:cNvSpPr txBox="1"/>
          <p:nvPr/>
        </p:nvSpPr>
        <p:spPr>
          <a:xfrm>
            <a:off x="497648" y="6307253"/>
            <a:ext cx="105949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C437A"/>
                </a:solidFill>
                <a:latin typeface="Arial"/>
                <a:ea typeface="Arial"/>
                <a:cs typeface="Arial"/>
                <a:sym typeface="Arial"/>
              </a:rPr>
              <a:t>First</a:t>
            </a:r>
            <a:br>
              <a:rPr lang="en-GB" sz="1200" b="0" i="0" u="none" strike="noStrike" cap="none">
                <a:solidFill>
                  <a:srgbClr val="0C437A"/>
                </a:solidFill>
                <a:latin typeface="Arial"/>
                <a:ea typeface="Arial"/>
                <a:cs typeface="Arial"/>
                <a:sym typeface="Arial"/>
              </a:rPr>
            </a:br>
            <a:r>
              <a:rPr lang="en-GB" sz="1200" b="0" i="0" u="none" strike="noStrike" cap="none">
                <a:solidFill>
                  <a:srgbClr val="0C437A"/>
                </a:solidFill>
                <a:latin typeface="Arial"/>
                <a:ea typeface="Arial"/>
                <a:cs typeface="Arial"/>
                <a:sym typeface="Arial"/>
              </a:rPr>
              <a:t>Author</a:t>
            </a:r>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133">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A5563-B3B9-E5FD-9A25-6BCA794056CE}"/>
              </a:ext>
            </a:extLst>
          </p:cNvPr>
          <p:cNvSpPr>
            <a:spLocks noGrp="1"/>
          </p:cNvSpPr>
          <p:nvPr>
            <p:ph type="title"/>
          </p:nvPr>
        </p:nvSpPr>
        <p:spPr/>
        <p:txBody>
          <a:bodyPr/>
          <a:lstStyle/>
          <a:p>
            <a:r>
              <a:rPr lang="en-GB" dirty="0"/>
              <a:t>Title &amp; authors</a:t>
            </a:r>
            <a:endParaRPr lang="en-FI" dirty="0"/>
          </a:p>
        </p:txBody>
      </p:sp>
      <p:sp>
        <p:nvSpPr>
          <p:cNvPr id="3" name="Text Placeholder 2">
            <a:extLst>
              <a:ext uri="{FF2B5EF4-FFF2-40B4-BE49-F238E27FC236}">
                <a16:creationId xmlns:a16="http://schemas.microsoft.com/office/drawing/2014/main" id="{D06CC533-AE07-5E89-3679-78DFC3CC70EF}"/>
              </a:ext>
            </a:extLst>
          </p:cNvPr>
          <p:cNvSpPr>
            <a:spLocks noGrp="1"/>
          </p:cNvSpPr>
          <p:nvPr>
            <p:ph type="body" idx="1"/>
          </p:nvPr>
        </p:nvSpPr>
        <p:spPr/>
        <p:txBody>
          <a:bodyPr/>
          <a:lstStyle/>
          <a:p>
            <a:endParaRPr lang="en-FI"/>
          </a:p>
        </p:txBody>
      </p:sp>
    </p:spTree>
    <p:extLst>
      <p:ext uri="{BB962C8B-B14F-4D97-AF65-F5344CB8AC3E}">
        <p14:creationId xmlns:p14="http://schemas.microsoft.com/office/powerpoint/2010/main" val="312880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Background &amp; Significance</a:t>
            </a:r>
            <a:endParaRPr/>
          </a:p>
        </p:txBody>
      </p:sp>
      <p:sp>
        <p:nvSpPr>
          <p:cNvPr id="102" name="Google Shape;102;p21"/>
          <p:cNvSpPr txBox="1">
            <a:spLocks noGrp="1"/>
          </p:cNvSpPr>
          <p:nvPr>
            <p:ph type="body" idx="1"/>
          </p:nvPr>
        </p:nvSpPr>
        <p:spPr>
          <a:xfrm>
            <a:off x="838200" y="1825625"/>
            <a:ext cx="10515600" cy="4297269"/>
          </a:xfrm>
          <a:prstGeom prst="rect">
            <a:avLst/>
          </a:prstGeom>
          <a:noFill/>
          <a:ln>
            <a:noFill/>
          </a:ln>
        </p:spPr>
        <p:txBody>
          <a:bodyPr spcFirstLastPara="1" wrap="square" lIns="91425" tIns="45700" rIns="91425" bIns="45700" anchor="t" anchorCtr="0">
            <a:noAutofit/>
          </a:bodyPr>
          <a:lstStyle/>
          <a:p>
            <a:pPr marL="228600" lvl="0" indent="-165100" algn="l" rtl="0">
              <a:lnSpc>
                <a:spcPct val="100000"/>
              </a:lnSpc>
              <a:spcBef>
                <a:spcPts val="0"/>
              </a:spcBef>
              <a:spcAft>
                <a:spcPts val="0"/>
              </a:spcAft>
              <a:buClr>
                <a:schemeClr val="dk1"/>
              </a:buClr>
              <a:buSzPts val="1800"/>
              <a:buChar char="•"/>
            </a:pPr>
            <a:r>
              <a:rPr lang="en-GB"/>
              <a:t>A few sentences laying out the context and most central prior art for the present study, citing up to 10-20 key papers – this can take one or two slides, or more when the study grow</a:t>
            </a:r>
            <a:endParaRPr/>
          </a:p>
          <a:p>
            <a:pPr marL="228600" lvl="0" indent="-165100" algn="l" rtl="0">
              <a:lnSpc>
                <a:spcPct val="100000"/>
              </a:lnSpc>
              <a:spcBef>
                <a:spcPts val="0"/>
              </a:spcBef>
              <a:spcAft>
                <a:spcPts val="0"/>
              </a:spcAft>
              <a:buClr>
                <a:schemeClr val="dk1"/>
              </a:buClr>
              <a:buSzPts val="1800"/>
              <a:buChar char="•"/>
            </a:pPr>
            <a:r>
              <a:rPr lang="en-GB"/>
              <a:t>It important to be conscious about what really are the studied constructs in prior research, how they are operationalized</a:t>
            </a:r>
            <a:endParaRPr/>
          </a:p>
          <a:p>
            <a:pPr marL="228600" lvl="0" indent="-165100" algn="l" rtl="0">
              <a:lnSpc>
                <a:spcPct val="100000"/>
              </a:lnSpc>
              <a:spcBef>
                <a:spcPts val="0"/>
              </a:spcBef>
              <a:spcAft>
                <a:spcPts val="0"/>
              </a:spcAft>
              <a:buClr>
                <a:schemeClr val="dk1"/>
              </a:buClr>
              <a:buSzPts val="1800"/>
              <a:buChar char="•"/>
            </a:pPr>
            <a:r>
              <a:rPr lang="en-GB"/>
              <a:t>It is also OK to plot here figures from earlier papers where they help in declaring the background for the present study</a:t>
            </a:r>
            <a:endParaRPr/>
          </a:p>
          <a:p>
            <a:pPr marL="228600" lvl="0" indent="-165100" algn="l" rtl="0">
              <a:lnSpc>
                <a:spcPct val="100000"/>
              </a:lnSpc>
              <a:spcBef>
                <a:spcPts val="0"/>
              </a:spcBef>
              <a:spcAft>
                <a:spcPts val="0"/>
              </a:spcAft>
              <a:buClr>
                <a:schemeClr val="dk1"/>
              </a:buClr>
              <a:buSzPts val="1800"/>
              <a:buChar char="•"/>
            </a:pPr>
            <a:r>
              <a:rPr lang="en-GB"/>
              <a:t>Ultimately, most or all papers to-be-cited in the introduction of the paper should be cited and dissected here already </a:t>
            </a:r>
            <a:endParaRPr/>
          </a:p>
          <a:p>
            <a:pPr marL="228600" lvl="0" indent="-165100" algn="l" rtl="0">
              <a:lnSpc>
                <a:spcPct val="100000"/>
              </a:lnSpc>
              <a:spcBef>
                <a:spcPts val="0"/>
              </a:spcBef>
              <a:spcAft>
                <a:spcPts val="0"/>
              </a:spcAft>
              <a:buClr>
                <a:schemeClr val="dk1"/>
              </a:buClr>
              <a:buSzPts val="1800"/>
              <a:buChar char="•"/>
            </a:pPr>
            <a:r>
              <a:rPr lang="en-GB"/>
              <a:t>The function of Background is to delineate the area of knowledge around the knowledge gap</a:t>
            </a:r>
            <a:endParaRPr/>
          </a:p>
          <a:p>
            <a:pPr marL="228600" lvl="0" indent="-165100" algn="l" rtl="0">
              <a:lnSpc>
                <a:spcPct val="100000"/>
              </a:lnSpc>
              <a:spcBef>
                <a:spcPts val="0"/>
              </a:spcBef>
              <a:spcAft>
                <a:spcPts val="0"/>
              </a:spcAft>
              <a:buClr>
                <a:schemeClr val="dk1"/>
              </a:buClr>
              <a:buSzPts val="1800"/>
              <a:buChar char="•"/>
            </a:pPr>
            <a:r>
              <a:rPr lang="en-GB"/>
              <a:t>i.e. it’s function is not to serve as a generic intro</a:t>
            </a:r>
            <a:endParaRPr/>
          </a:p>
          <a:p>
            <a:pPr marL="228600" lvl="0" indent="-165100" algn="l" rtl="0">
              <a:lnSpc>
                <a:spcPct val="100000"/>
              </a:lnSpc>
              <a:spcBef>
                <a:spcPts val="0"/>
              </a:spcBef>
              <a:spcAft>
                <a:spcPts val="0"/>
              </a:spcAft>
              <a:buClr>
                <a:schemeClr val="dk1"/>
              </a:buClr>
              <a:buSzPts val="1800"/>
              <a:buChar char="•"/>
            </a:pPr>
            <a:r>
              <a:rPr lang="en-GB"/>
              <a:t>The function of Background is NOT to educate the audience or grant reviewer on matters generically related to the topic</a:t>
            </a:r>
            <a:endParaRPr/>
          </a:p>
          <a:p>
            <a:pPr marL="228600" lvl="0" indent="-165100" algn="l" rtl="0">
              <a:lnSpc>
                <a:spcPct val="100000"/>
              </a:lnSpc>
              <a:spcBef>
                <a:spcPts val="0"/>
              </a:spcBef>
              <a:spcAft>
                <a:spcPts val="0"/>
              </a:spcAft>
              <a:buClr>
                <a:schemeClr val="dk1"/>
              </a:buClr>
              <a:buSzPts val="1800"/>
              <a:buChar char="•"/>
            </a:pPr>
            <a:r>
              <a:rPr lang="en-GB"/>
              <a:t>Background should also indicate explicitly what are the key constructs for this study </a:t>
            </a:r>
            <a:endParaRPr/>
          </a:p>
          <a:p>
            <a:pPr marL="228600" lvl="0" indent="-165100" algn="l" rtl="0">
              <a:lnSpc>
                <a:spcPct val="100000"/>
              </a:lnSpc>
              <a:spcBef>
                <a:spcPts val="0"/>
              </a:spcBef>
              <a:spcAft>
                <a:spcPts val="0"/>
              </a:spcAft>
              <a:buClr>
                <a:schemeClr val="dk1"/>
              </a:buClr>
              <a:buSzPts val="1800"/>
              <a:buChar char="•"/>
            </a:pPr>
            <a:r>
              <a:rPr lang="en-GB"/>
              <a:t>how they are operationalized can be noted here or in problem statement or approach</a:t>
            </a:r>
            <a:endParaRPr/>
          </a:p>
          <a:p>
            <a:pPr marL="228600" lvl="0" indent="-165100" algn="l" rtl="0">
              <a:lnSpc>
                <a:spcPct val="100000"/>
              </a:lnSpc>
              <a:spcBef>
                <a:spcPts val="0"/>
              </a:spcBef>
              <a:spcAft>
                <a:spcPts val="0"/>
              </a:spcAft>
              <a:buClr>
                <a:schemeClr val="dk1"/>
              </a:buClr>
              <a:buSzPts val="1800"/>
              <a:buChar char="•"/>
            </a:pPr>
            <a:r>
              <a:rPr lang="en-GB"/>
              <a:t>Significance: tell already in the opening why this field of research is important (to whom it is important and maybe for reaching what kind of impact it is important)</a:t>
            </a:r>
            <a:endParaRPr/>
          </a:p>
        </p:txBody>
      </p:sp>
      <p:sp>
        <p:nvSpPr>
          <p:cNvPr id="103" name="Google Shape;103;p21"/>
          <p:cNvSpPr txBox="1"/>
          <p:nvPr/>
        </p:nvSpPr>
        <p:spPr>
          <a:xfrm>
            <a:off x="1053623" y="6299540"/>
            <a:ext cx="60948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D8D8D8"/>
                </a:solidFill>
                <a:latin typeface="Arial"/>
                <a:ea typeface="Arial"/>
                <a:cs typeface="Arial"/>
                <a:sym typeface="Arial"/>
              </a:rPr>
              <a:t>Add a picture and the name of the first author through View -&gt; Slide master (PowerPoint) or Theme Builder (Google Slides)</a:t>
            </a:r>
            <a:endParaRPr sz="1400" b="0" i="0" u="none" strike="noStrike" cap="none">
              <a:solidFill>
                <a:srgbClr val="D8D8D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1"/>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Knowledge gap</a:t>
            </a:r>
            <a:endParaRPr/>
          </a:p>
        </p:txBody>
      </p:sp>
      <p:sp>
        <p:nvSpPr>
          <p:cNvPr id="109" name="Google Shape;109;p41"/>
          <p:cNvSpPr txBox="1">
            <a:spLocks noGrp="1"/>
          </p:cNvSpPr>
          <p:nvPr>
            <p:ph type="body" idx="1"/>
          </p:nvPr>
        </p:nvSpPr>
        <p:spPr>
          <a:xfrm>
            <a:off x="838200" y="1825625"/>
            <a:ext cx="10515600" cy="4297269"/>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What knowledge is missing in prior art?</a:t>
            </a:r>
            <a:endParaRPr/>
          </a:p>
          <a:p>
            <a:pPr marL="228600" marR="0" lvl="0" indent="-165100" algn="l" rtl="0">
              <a:lnSpc>
                <a:spcPct val="100000"/>
              </a:lnSpc>
              <a:spcBef>
                <a:spcPts val="0"/>
              </a:spcBef>
              <a:spcAft>
                <a:spcPts val="0"/>
              </a:spcAft>
              <a:buSzPts val="1800"/>
              <a:buChar char="•"/>
            </a:pPr>
            <a:r>
              <a:rPr lang="en-GB"/>
              <a:t>What has remained poorly understood or lacking mechanistic/theoretical insight, conclusive evidence, etc?</a:t>
            </a:r>
            <a:endParaRPr/>
          </a:p>
          <a:p>
            <a:pPr marL="228600" marR="0" lvl="0" indent="-165100" algn="l" rtl="0">
              <a:lnSpc>
                <a:spcPct val="100000"/>
              </a:lnSpc>
              <a:spcBef>
                <a:spcPts val="0"/>
              </a:spcBef>
              <a:spcAft>
                <a:spcPts val="0"/>
              </a:spcAft>
              <a:buSzPts val="1800"/>
              <a:buChar char="•"/>
            </a:pPr>
            <a:r>
              <a:rPr lang="en-GB"/>
              <a:t>Be specific about what exactly is the topic of which the understanding is limited</a:t>
            </a:r>
            <a:endParaRPr/>
          </a:p>
          <a:p>
            <a:pPr marL="228600" marR="0" lvl="0" indent="-165100" algn="l" rtl="0">
              <a:lnSpc>
                <a:spcPct val="100000"/>
              </a:lnSpc>
              <a:spcBef>
                <a:spcPts val="0"/>
              </a:spcBef>
              <a:spcAft>
                <a:spcPts val="0"/>
              </a:spcAft>
              <a:buSzPts val="1800"/>
              <a:buChar char="•"/>
            </a:pPr>
            <a:r>
              <a:rPr lang="en-GB"/>
              <a:t>Too broad or overarching knowledge gap statements are a sign of the authors not understanding their own field of research and prior art therein</a:t>
            </a:r>
            <a:endParaRPr/>
          </a:p>
          <a:p>
            <a:pPr marL="228600" marR="0" lvl="0" indent="-165100" algn="l" rtl="0">
              <a:lnSpc>
                <a:spcPct val="100000"/>
              </a:lnSpc>
              <a:spcBef>
                <a:spcPts val="0"/>
              </a:spcBef>
              <a:spcAft>
                <a:spcPts val="0"/>
              </a:spcAft>
              <a:buSzPts val="1800"/>
              <a:buChar char="•"/>
            </a:pPr>
            <a:r>
              <a:rPr lang="en-GB"/>
              <a:t>Use references wherever helpful</a:t>
            </a:r>
            <a:endParaRPr/>
          </a:p>
          <a:p>
            <a:pPr marL="228600" marR="0" lvl="0" indent="-165100" algn="l" rtl="0">
              <a:lnSpc>
                <a:spcPct val="100000"/>
              </a:lnSpc>
              <a:spcBef>
                <a:spcPts val="0"/>
              </a:spcBef>
              <a:spcAft>
                <a:spcPts val="0"/>
              </a:spcAft>
              <a:buSzPts val="1800"/>
              <a:buChar char="•"/>
            </a:pPr>
            <a:r>
              <a:rPr lang="en-GB"/>
              <a:t>Significance of the knowledge gap: is this a central or a peripheral (groundbreaking vs incremental) thing? What is the significance of filling this knowledge gap (in relation to the significance of surrounding background)</a:t>
            </a:r>
            <a:endParaRPr/>
          </a:p>
        </p:txBody>
      </p:sp>
      <p:sp>
        <p:nvSpPr>
          <p:cNvPr id="110" name="Google Shape;110;p41"/>
          <p:cNvSpPr txBox="1"/>
          <p:nvPr/>
        </p:nvSpPr>
        <p:spPr>
          <a:xfrm>
            <a:off x="1053623" y="6231265"/>
            <a:ext cx="609485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a:solidFill>
                  <a:srgbClr val="D8D8D8"/>
                </a:solidFill>
                <a:latin typeface="Arial"/>
                <a:ea typeface="Arial"/>
                <a:cs typeface="Arial"/>
                <a:sym typeface="Arial"/>
              </a:rPr>
              <a:t>Add a picture and the name of the first author through View -&gt; Slide master (PowerPoint) or Theme Builder (Google Slides)</a:t>
            </a:r>
            <a:endParaRPr sz="1400" b="0" i="0" u="none" strike="noStrike" cap="none">
              <a:solidFill>
                <a:srgbClr val="D8D8D8"/>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Problem Statement</a:t>
            </a:r>
            <a:endParaRPr/>
          </a:p>
        </p:txBody>
      </p:sp>
      <p:sp>
        <p:nvSpPr>
          <p:cNvPr id="116" name="Google Shape;116;p22"/>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Why does the knowledge gap exist, what have been the methodological, theoretical, assumptional, or other limitations?</a:t>
            </a:r>
            <a:endParaRPr/>
          </a:p>
          <a:p>
            <a:pPr marL="228600" marR="0" lvl="0" indent="-165100" algn="l" rtl="0">
              <a:lnSpc>
                <a:spcPct val="100000"/>
              </a:lnSpc>
              <a:spcBef>
                <a:spcPts val="0"/>
              </a:spcBef>
              <a:spcAft>
                <a:spcPts val="0"/>
              </a:spcAft>
              <a:buSzPts val="1800"/>
              <a:buChar char="•"/>
            </a:pPr>
            <a:r>
              <a:rPr lang="en-GB"/>
              <a:t>Include references here too wherever applicable (if the problem statement pertains to a specific study or line of research)</a:t>
            </a:r>
            <a:endParaRPr/>
          </a:p>
          <a:p>
            <a:pPr marL="228600" marR="0" lvl="0" indent="-165100" algn="l" rtl="0">
              <a:lnSpc>
                <a:spcPct val="100000"/>
              </a:lnSpc>
              <a:spcBef>
                <a:spcPts val="0"/>
              </a:spcBef>
              <a:spcAft>
                <a:spcPts val="0"/>
              </a:spcAft>
              <a:buSzPts val="1800"/>
              <a:buChar char="•"/>
            </a:pPr>
            <a:r>
              <a:rPr lang="en-GB"/>
              <a:t>In the paper, we will need to be polite about shortcomings of prior studies – here be explicit about them. Often the problem statement is in the form of “paper X showed this, but because methods, the result is likely not wrong” or “papers X,Y argued this, but omitted this specific methodological or theoretical insight” or “paper X argues to already have solved this problem, but doesn’t in reality because…”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Question</a:t>
            </a:r>
            <a:endParaRPr/>
          </a:p>
        </p:txBody>
      </p:sp>
      <p:sp>
        <p:nvSpPr>
          <p:cNvPr id="122" name="Google Shape;122;p23"/>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Question is the thing you ask and answer in this study. Answering the question fills exactly the Knowledge Gap delineated above and is achieved by solving the Problem stated above(, by using the novel approach declared in the following slides). Answering the question is important because of the significance stated in Background.</a:t>
            </a:r>
            <a:endParaRPr/>
          </a:p>
          <a:p>
            <a:pPr marL="228600" marR="0" lvl="0" indent="-165100" algn="l" rtl="0">
              <a:lnSpc>
                <a:spcPct val="100000"/>
              </a:lnSpc>
              <a:spcBef>
                <a:spcPts val="0"/>
              </a:spcBef>
              <a:spcAft>
                <a:spcPts val="0"/>
              </a:spcAft>
              <a:buSzPts val="1800"/>
              <a:buChar char="•"/>
            </a:pPr>
            <a:r>
              <a:rPr lang="en-GB"/>
              <a:t>Declare</a:t>
            </a:r>
            <a:endParaRPr/>
          </a:p>
          <a:p>
            <a:pPr marL="685800" marR="0" lvl="0" indent="-165100" algn="l" rtl="0">
              <a:lnSpc>
                <a:spcPct val="100000"/>
              </a:lnSpc>
              <a:spcBef>
                <a:spcPts val="0"/>
              </a:spcBef>
              <a:spcAft>
                <a:spcPts val="0"/>
              </a:spcAft>
              <a:buSzPts val="1800"/>
              <a:buChar char="•"/>
            </a:pPr>
            <a:r>
              <a:rPr lang="en-GB"/>
              <a:t>Main scientific question (primary)</a:t>
            </a:r>
            <a:endParaRPr/>
          </a:p>
          <a:p>
            <a:pPr marL="685800" marR="0" lvl="0" indent="-165100" algn="l" rtl="0">
              <a:lnSpc>
                <a:spcPct val="100000"/>
              </a:lnSpc>
              <a:spcBef>
                <a:spcPts val="0"/>
              </a:spcBef>
              <a:spcAft>
                <a:spcPts val="0"/>
              </a:spcAft>
              <a:buSzPts val="1800"/>
              <a:buChar char="•"/>
            </a:pPr>
            <a:r>
              <a:rPr lang="en-GB"/>
              <a:t>Additional questions (secondary, exploratory…)</a:t>
            </a:r>
            <a:endParaRPr/>
          </a:p>
          <a:p>
            <a:pPr marL="685800" marR="0" lvl="0" indent="-165100" algn="l" rtl="0">
              <a:lnSpc>
                <a:spcPct val="100000"/>
              </a:lnSpc>
              <a:spcBef>
                <a:spcPts val="0"/>
              </a:spcBef>
              <a:spcAft>
                <a:spcPts val="0"/>
              </a:spcAft>
              <a:buSzPts val="1800"/>
              <a:buChar char="•"/>
            </a:pPr>
            <a:r>
              <a:rPr lang="en-GB"/>
              <a:t>Questions are framed in terms of the constructs per se that are being studied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2"/>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Hypothesis</a:t>
            </a:r>
            <a:endParaRPr/>
          </a:p>
        </p:txBody>
      </p:sp>
      <p:sp>
        <p:nvSpPr>
          <p:cNvPr id="128" name="Google Shape;128;p42"/>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What is the hypothesis, can it be an alternative choice between two hypotheses?</a:t>
            </a:r>
            <a:endParaRPr/>
          </a:p>
          <a:p>
            <a:pPr marL="228600" marR="0" lvl="0" indent="-165100" algn="l" rtl="0">
              <a:lnSpc>
                <a:spcPct val="100000"/>
              </a:lnSpc>
              <a:spcBef>
                <a:spcPts val="0"/>
              </a:spcBef>
              <a:spcAft>
                <a:spcPts val="0"/>
              </a:spcAft>
              <a:buSzPts val="1800"/>
              <a:buChar char="•"/>
            </a:pPr>
            <a:r>
              <a:rPr lang="en-GB"/>
              <a:t>Hypothesis must be testable and this testing must be achievable</a:t>
            </a:r>
            <a:endParaRPr/>
          </a:p>
          <a:p>
            <a:pPr marL="228600" marR="0" lvl="0" indent="-165100" algn="l" rtl="0">
              <a:lnSpc>
                <a:spcPct val="100000"/>
              </a:lnSpc>
              <a:spcBef>
                <a:spcPts val="0"/>
              </a:spcBef>
              <a:spcAft>
                <a:spcPts val="0"/>
              </a:spcAft>
              <a:buSzPts val="1800"/>
              <a:buChar char="•"/>
            </a:pPr>
            <a:r>
              <a:rPr lang="en-GB"/>
              <a:t>Hypothesis is a test that one makes on the operationalizations of the constructs under study</a:t>
            </a:r>
            <a:endParaRPr/>
          </a:p>
          <a:p>
            <a:pPr marL="228600" marR="0" lvl="0" indent="-165100" algn="l" rtl="0">
              <a:lnSpc>
                <a:spcPct val="100000"/>
              </a:lnSpc>
              <a:spcBef>
                <a:spcPts val="0"/>
              </a:spcBef>
              <a:spcAft>
                <a:spcPts val="0"/>
              </a:spcAft>
              <a:buSzPts val="1800"/>
              <a:buChar char="•"/>
            </a:pPr>
            <a:r>
              <a:rPr lang="en-GB"/>
              <a:t>The hypothesis can also be a data-driven one, but it must yield an explicit (operationalized) outcome that can be used to infer the answer to the question (about constructs)</a:t>
            </a:r>
            <a:endParaRPr/>
          </a:p>
          <a:p>
            <a:pPr marL="228600" marR="0" lvl="0" indent="-165100" algn="l" rtl="0">
              <a:lnSpc>
                <a:spcPct val="100000"/>
              </a:lnSpc>
              <a:spcBef>
                <a:spcPts val="0"/>
              </a:spcBef>
              <a:spcAft>
                <a:spcPts val="0"/>
              </a:spcAft>
              <a:buSzPts val="1800"/>
              <a:buChar char="•"/>
            </a:pPr>
            <a:r>
              <a:rPr lang="en-GB"/>
              <a:t>In between your Q and H, make clear how constructs in Q are operationalized for H, and how H testing will then be carried out</a:t>
            </a:r>
            <a:endParaRPr/>
          </a:p>
          <a:p>
            <a:pPr marL="228600" marR="0" lvl="0" indent="-165100" algn="l" rtl="0">
              <a:lnSpc>
                <a:spcPct val="100000"/>
              </a:lnSpc>
              <a:spcBef>
                <a:spcPts val="0"/>
              </a:spcBef>
              <a:spcAft>
                <a:spcPts val="0"/>
              </a:spcAft>
              <a:buSzPts val="1800"/>
              <a:buChar char="•"/>
            </a:pPr>
            <a:r>
              <a:rPr lang="en-GB"/>
              <a:t>Make sure that you pass the operationalization sanity check here: does the testing of this Hypothesis answer the Question?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Approach</a:t>
            </a:r>
            <a:endParaRPr/>
          </a:p>
        </p:txBody>
      </p:sp>
      <p:sp>
        <p:nvSpPr>
          <p:cNvPr id="134" name="Google Shape;134;p24"/>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How (species, task, measurement method, ...) we aim to answer the question by the testing of the hypothesis</a:t>
            </a:r>
            <a:endParaRPr/>
          </a:p>
          <a:p>
            <a:pPr marL="228600" marR="0" lvl="0" indent="-165100" algn="l" rtl="0">
              <a:lnSpc>
                <a:spcPct val="100000"/>
              </a:lnSpc>
              <a:spcBef>
                <a:spcPts val="0"/>
              </a:spcBef>
              <a:spcAft>
                <a:spcPts val="0"/>
              </a:spcAft>
              <a:buSzPts val="1800"/>
              <a:buChar char="•"/>
            </a:pPr>
            <a:r>
              <a:rPr lang="en-GB"/>
              <a:t>How is this approach novel (= qualitative advance) or what are our other key advantages (= quantitative advance, like greater N, better resolution, …) that enable this study to overcome the prior problems declared in the problem statement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Objectives</a:t>
            </a:r>
            <a:endParaRPr/>
          </a:p>
        </p:txBody>
      </p:sp>
      <p:sp>
        <p:nvSpPr>
          <p:cNvPr id="140" name="Google Shape;140;p25"/>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What this research aims to achieve – kinda redundant with question, hypothesis and approach, but still important especially in grant applications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Results</a:t>
            </a:r>
            <a:endParaRPr/>
          </a:p>
        </p:txBody>
      </p:sp>
      <p:sp>
        <p:nvSpPr>
          <p:cNvPr id="146" name="Google Shape;146;p26"/>
          <p:cNvSpPr txBox="1">
            <a:spLocks noGrp="1"/>
          </p:cNvSpPr>
          <p:nvPr>
            <p:ph type="body" idx="1"/>
          </p:nvPr>
        </p:nvSpPr>
        <p:spPr>
          <a:xfrm>
            <a:off x="838201" y="1690688"/>
            <a:ext cx="11156576" cy="3992715"/>
          </a:xfrm>
          <a:prstGeom prst="rect">
            <a:avLst/>
          </a:prstGeom>
          <a:noFill/>
          <a:ln>
            <a:noFill/>
          </a:ln>
        </p:spPr>
        <p:txBody>
          <a:bodyPr spcFirstLastPara="1" wrap="square" lIns="91425" tIns="45700" rIns="91425" bIns="45700" anchor="t" anchorCtr="0">
            <a:noAutofit/>
          </a:bodyPr>
          <a:lstStyle/>
          <a:p>
            <a:pPr marL="228600" marR="0" lvl="0" indent="-165100" algn="l" rtl="0">
              <a:lnSpc>
                <a:spcPct val="100000"/>
              </a:lnSpc>
              <a:spcBef>
                <a:spcPts val="0"/>
              </a:spcBef>
              <a:spcAft>
                <a:spcPts val="0"/>
              </a:spcAft>
              <a:buSzPts val="1800"/>
              <a:buChar char="•"/>
            </a:pPr>
            <a:r>
              <a:rPr lang="en-GB"/>
              <a:t>Present the results max 1 publication figure per slide, and it’s ok to split 1 multi-panel figure to multiple slides</a:t>
            </a:r>
            <a:endParaRPr/>
          </a:p>
          <a:p>
            <a:pPr marL="228600" marR="0" lvl="0" indent="-165100" algn="l" rtl="0">
              <a:lnSpc>
                <a:spcPct val="100000"/>
              </a:lnSpc>
              <a:spcBef>
                <a:spcPts val="0"/>
              </a:spcBef>
              <a:spcAft>
                <a:spcPts val="0"/>
              </a:spcAft>
              <a:buSzPts val="1800"/>
              <a:buChar char="•"/>
            </a:pPr>
            <a:r>
              <a:rPr lang="en-GB"/>
              <a:t>The structure of a Results section for any one single figure is:</a:t>
            </a:r>
            <a:endParaRPr/>
          </a:p>
          <a:p>
            <a:pPr marL="228600" marR="0" lvl="0" indent="-165100" algn="l" rtl="0">
              <a:lnSpc>
                <a:spcPct val="100000"/>
              </a:lnSpc>
              <a:spcBef>
                <a:spcPts val="0"/>
              </a:spcBef>
              <a:spcAft>
                <a:spcPts val="0"/>
              </a:spcAft>
              <a:buSzPts val="1800"/>
              <a:buChar char="•"/>
            </a:pPr>
            <a:r>
              <a:rPr lang="en-GB"/>
              <a:t>A single idea per single figure</a:t>
            </a:r>
            <a:endParaRPr/>
          </a:p>
          <a:p>
            <a:pPr marL="228600" marR="0" lvl="0" indent="-165100" algn="l" rtl="0">
              <a:lnSpc>
                <a:spcPct val="100000"/>
              </a:lnSpc>
              <a:spcBef>
                <a:spcPts val="0"/>
              </a:spcBef>
              <a:spcAft>
                <a:spcPts val="0"/>
              </a:spcAft>
              <a:buSzPts val="1800"/>
              <a:buChar char="•"/>
            </a:pPr>
            <a:r>
              <a:rPr lang="en-GB"/>
              <a:t>Results section subheading = claim</a:t>
            </a:r>
            <a:endParaRPr/>
          </a:p>
          <a:p>
            <a:pPr marL="228600" marR="0" lvl="0" indent="-165100" algn="l" rtl="0">
              <a:lnSpc>
                <a:spcPct val="100000"/>
              </a:lnSpc>
              <a:spcBef>
                <a:spcPts val="0"/>
              </a:spcBef>
              <a:spcAft>
                <a:spcPts val="0"/>
              </a:spcAft>
              <a:buSzPts val="1800"/>
              <a:buChar char="•"/>
            </a:pPr>
            <a:r>
              <a:rPr lang="en-GB"/>
              <a:t>The claim needs to be written and stated explicitly!</a:t>
            </a:r>
            <a:endParaRPr/>
          </a:p>
          <a:p>
            <a:pPr marL="0" lvl="0" indent="0" algn="l" rtl="0">
              <a:lnSpc>
                <a:spcPct val="120000"/>
              </a:lnSpc>
              <a:spcBef>
                <a:spcPts val="0"/>
              </a:spcBef>
              <a:spcAft>
                <a:spcPts val="0"/>
              </a:spcAft>
              <a:buSzPts val="2800"/>
              <a:buNone/>
            </a:pPr>
            <a:r>
              <a:rPr lang="en-GB"/>
              <a:t>1. Sub-Question (that will be answered in this section – construct level)</a:t>
            </a:r>
            <a:endParaRPr/>
          </a:p>
          <a:p>
            <a:pPr marL="0" lvl="0" indent="0" algn="l" rtl="0">
              <a:lnSpc>
                <a:spcPct val="120000"/>
              </a:lnSpc>
              <a:spcBef>
                <a:spcPts val="0"/>
              </a:spcBef>
              <a:spcAft>
                <a:spcPts val="0"/>
              </a:spcAft>
              <a:buSzPts val="2800"/>
              <a:buNone/>
            </a:pPr>
            <a:r>
              <a:rPr lang="en-GB"/>
              <a:t>2. Approach (what will be done to answer it – operationalization of the constructs)</a:t>
            </a:r>
            <a:endParaRPr/>
          </a:p>
          <a:p>
            <a:pPr marL="0" lvl="0" indent="0" algn="l" rtl="0">
              <a:lnSpc>
                <a:spcPct val="120000"/>
              </a:lnSpc>
              <a:spcBef>
                <a:spcPts val="0"/>
              </a:spcBef>
              <a:spcAft>
                <a:spcPts val="0"/>
              </a:spcAft>
              <a:buSzPts val="2800"/>
              <a:buNone/>
            </a:pPr>
            <a:r>
              <a:rPr lang="en-GB"/>
              <a:t>3. Implementation (what actually was done)</a:t>
            </a:r>
            <a:endParaRPr/>
          </a:p>
          <a:p>
            <a:pPr marL="0" lvl="0" indent="0" algn="l" rtl="0">
              <a:lnSpc>
                <a:spcPct val="120000"/>
              </a:lnSpc>
              <a:spcBef>
                <a:spcPts val="0"/>
              </a:spcBef>
              <a:spcAft>
                <a:spcPts val="0"/>
              </a:spcAft>
              <a:buSzPts val="2800"/>
              <a:buNone/>
            </a:pPr>
            <a:r>
              <a:rPr lang="en-GB"/>
              <a:t>4. Result (operationalization level, what did you find)</a:t>
            </a:r>
            <a:endParaRPr/>
          </a:p>
          <a:p>
            <a:pPr marL="228600" marR="0" lvl="0" indent="-165100" algn="l" rtl="0">
              <a:lnSpc>
                <a:spcPct val="100000"/>
              </a:lnSpc>
              <a:spcBef>
                <a:spcPts val="0"/>
              </a:spcBef>
              <a:spcAft>
                <a:spcPts val="0"/>
              </a:spcAft>
              <a:buSzPts val="1800"/>
              <a:buChar char="•"/>
            </a:pPr>
            <a:r>
              <a:rPr lang="en-GB"/>
              <a:t>	Each panel must be associated with one claim that carries the narrative</a:t>
            </a:r>
            <a:endParaRPr/>
          </a:p>
          <a:p>
            <a:pPr marL="228600" marR="0" lvl="0" indent="-165100" algn="l" rtl="0">
              <a:lnSpc>
                <a:spcPct val="100000"/>
              </a:lnSpc>
              <a:spcBef>
                <a:spcPts val="0"/>
              </a:spcBef>
              <a:spcAft>
                <a:spcPts val="0"/>
              </a:spcAft>
              <a:buSzPts val="1800"/>
              <a:buChar char="•"/>
            </a:pPr>
            <a:r>
              <a:rPr lang="en-GB"/>
              <a:t>	Results claims tell what was found – Figure legend describes what exactly is in the figure – the Results slides 	must  have both!</a:t>
            </a:r>
            <a:endParaRPr/>
          </a:p>
          <a:p>
            <a:pPr marL="0" lvl="0" indent="0" algn="l" rtl="0">
              <a:lnSpc>
                <a:spcPct val="120000"/>
              </a:lnSpc>
              <a:spcBef>
                <a:spcPts val="0"/>
              </a:spcBef>
              <a:spcAft>
                <a:spcPts val="0"/>
              </a:spcAft>
              <a:buSzPts val="2800"/>
              <a:buNone/>
            </a:pPr>
            <a:r>
              <a:rPr lang="en-GB"/>
              <a:t>5. Inference (what did the result mean, what was the answer to the present Sub-Question, how does this lead to the next Sub-Question)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Discussion</a:t>
            </a:r>
            <a:endParaRPr/>
          </a:p>
        </p:txBody>
      </p:sp>
      <p:sp>
        <p:nvSpPr>
          <p:cNvPr id="152" name="Google Shape;152;p27"/>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Summary of results (maybe at both operationalization and construct levels)</a:t>
            </a:r>
            <a:endParaRPr/>
          </a:p>
          <a:p>
            <a:pPr marL="228600" marR="0" lvl="0" indent="-165100" algn="l" rtl="0">
              <a:lnSpc>
                <a:spcPct val="100000"/>
              </a:lnSpc>
              <a:spcBef>
                <a:spcPts val="0"/>
              </a:spcBef>
              <a:spcAft>
                <a:spcPts val="0"/>
              </a:spcAft>
              <a:buSzPts val="1800"/>
              <a:buChar char="•"/>
            </a:pPr>
            <a:r>
              <a:rPr lang="en-GB"/>
              <a:t>What was the result of testing the Hypothesis</a:t>
            </a:r>
            <a:endParaRPr/>
          </a:p>
          <a:p>
            <a:pPr marL="228600" marR="0" lvl="0" indent="-165100" algn="l" rtl="0">
              <a:lnSpc>
                <a:spcPct val="100000"/>
              </a:lnSpc>
              <a:spcBef>
                <a:spcPts val="0"/>
              </a:spcBef>
              <a:spcAft>
                <a:spcPts val="0"/>
              </a:spcAft>
              <a:buSzPts val="1800"/>
              <a:buChar char="•"/>
            </a:pPr>
            <a:r>
              <a:rPr lang="en-GB"/>
              <a:t>What is the answer to the Question that this gives</a:t>
            </a:r>
            <a:endParaRPr/>
          </a:p>
          <a:p>
            <a:pPr marL="228600" marR="0" lvl="0" indent="-165100" algn="l" rtl="0">
              <a:lnSpc>
                <a:spcPct val="100000"/>
              </a:lnSpc>
              <a:spcBef>
                <a:spcPts val="0"/>
              </a:spcBef>
              <a:spcAft>
                <a:spcPts val="0"/>
              </a:spcAft>
              <a:buSzPts val="1800"/>
              <a:buChar char="•"/>
            </a:pPr>
            <a:r>
              <a:rPr lang="en-GB"/>
              <a:t>How does this fill the Knowledge Gap and how is it in line with prior art</a:t>
            </a:r>
            <a:endParaRPr/>
          </a:p>
          <a:p>
            <a:pPr marL="228600" marR="0" lvl="0" indent="-165100" algn="l" rtl="0">
              <a:lnSpc>
                <a:spcPct val="100000"/>
              </a:lnSpc>
              <a:spcBef>
                <a:spcPts val="0"/>
              </a:spcBef>
              <a:spcAft>
                <a:spcPts val="0"/>
              </a:spcAft>
              <a:buSzPts val="1800"/>
              <a:buChar char="•"/>
            </a:pPr>
            <a:r>
              <a:rPr lang="en-GB"/>
              <a:t>Cite all prior art relevant here</a:t>
            </a:r>
            <a:endParaRPr/>
          </a:p>
          <a:p>
            <a:pPr marL="228600" marR="0" lvl="0" indent="-165100" algn="l" rtl="0">
              <a:lnSpc>
                <a:spcPct val="100000"/>
              </a:lnSpc>
              <a:spcBef>
                <a:spcPts val="0"/>
              </a:spcBef>
              <a:spcAft>
                <a:spcPts val="0"/>
              </a:spcAft>
              <a:buSzPts val="1800"/>
              <a:buChar char="•"/>
            </a:pPr>
            <a:r>
              <a:rPr lang="en-GB"/>
              <a:t>How does this work advance the prior art</a:t>
            </a:r>
            <a:endParaRPr/>
          </a:p>
          <a:p>
            <a:pPr marL="228600" marR="0" lvl="0" indent="-165100" algn="l" rtl="0">
              <a:lnSpc>
                <a:spcPct val="100000"/>
              </a:lnSpc>
              <a:spcBef>
                <a:spcPts val="0"/>
              </a:spcBef>
              <a:spcAft>
                <a:spcPts val="0"/>
              </a:spcAft>
              <a:buSzPts val="1800"/>
              <a:buChar char="•"/>
            </a:pPr>
            <a:r>
              <a:rPr lang="en-GB"/>
              <a:t>Possibly some notes about limitations of this study and questions that one needs to answer in upcoming studies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3"/>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Impact</a:t>
            </a:r>
            <a:endParaRPr/>
          </a:p>
        </p:txBody>
      </p:sp>
      <p:sp>
        <p:nvSpPr>
          <p:cNvPr id="158" name="Google Shape;158;p43"/>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marR="0" lvl="0" indent="-165100" algn="l" rtl="0">
              <a:lnSpc>
                <a:spcPct val="100000"/>
              </a:lnSpc>
              <a:spcBef>
                <a:spcPts val="0"/>
              </a:spcBef>
              <a:spcAft>
                <a:spcPts val="0"/>
              </a:spcAft>
              <a:buSzPts val="1800"/>
              <a:buChar char="•"/>
            </a:pPr>
            <a:r>
              <a:rPr lang="en-GB"/>
              <a:t>Impact statement is crucial in grant applications but may be useful in papers as well</a:t>
            </a:r>
            <a:endParaRPr/>
          </a:p>
          <a:p>
            <a:pPr marL="228600" marR="0" lvl="0" indent="-165100" algn="l" rtl="0">
              <a:lnSpc>
                <a:spcPct val="100000"/>
              </a:lnSpc>
              <a:spcBef>
                <a:spcPts val="0"/>
              </a:spcBef>
              <a:spcAft>
                <a:spcPts val="0"/>
              </a:spcAft>
              <a:buSzPts val="1800"/>
              <a:buChar char="•"/>
            </a:pPr>
            <a:r>
              <a:rPr lang="en-GB"/>
              <a:t>What is the scientific impact achieved by these results</a:t>
            </a:r>
            <a:endParaRPr/>
          </a:p>
          <a:p>
            <a:pPr marL="228600" marR="0" lvl="0" indent="-165100" algn="l" rtl="0">
              <a:lnSpc>
                <a:spcPct val="100000"/>
              </a:lnSpc>
              <a:spcBef>
                <a:spcPts val="0"/>
              </a:spcBef>
              <a:spcAft>
                <a:spcPts val="0"/>
              </a:spcAft>
              <a:buSzPts val="1800"/>
              <a:buChar char="•"/>
            </a:pPr>
            <a:r>
              <a:rPr lang="en-GB"/>
              <a:t>Clinical relevance</a:t>
            </a:r>
            <a:endParaRPr/>
          </a:p>
          <a:p>
            <a:pPr marL="228600" marR="0" lvl="0" indent="-165100" algn="l" rtl="0">
              <a:lnSpc>
                <a:spcPct val="100000"/>
              </a:lnSpc>
              <a:spcBef>
                <a:spcPts val="0"/>
              </a:spcBef>
              <a:spcAft>
                <a:spcPts val="0"/>
              </a:spcAft>
              <a:buSzPts val="1800"/>
              <a:buChar char="•"/>
            </a:pPr>
            <a:r>
              <a:rPr lang="en-GB"/>
              <a:t>Potential for economic impact</a:t>
            </a:r>
            <a:endParaRPr/>
          </a:p>
          <a:p>
            <a:pPr marL="228600" marR="0" lvl="0" indent="-165100" algn="l" rtl="0">
              <a:lnSpc>
                <a:spcPct val="100000"/>
              </a:lnSpc>
              <a:spcBef>
                <a:spcPts val="0"/>
              </a:spcBef>
              <a:spcAft>
                <a:spcPts val="0"/>
              </a:spcAft>
              <a:buSzPts val="1800"/>
              <a:buChar char="•"/>
            </a:pPr>
            <a:r>
              <a:rPr lang="en-GB"/>
              <a:t>Societal impact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838201" y="365125"/>
            <a:ext cx="8365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4400"/>
              <a:buFont typeface="Calibri"/>
              <a:buNone/>
            </a:pPr>
            <a:r>
              <a:rPr lang="en-GB"/>
              <a:t>Conclusions</a:t>
            </a:r>
            <a:endParaRPr/>
          </a:p>
        </p:txBody>
      </p:sp>
      <p:sp>
        <p:nvSpPr>
          <p:cNvPr id="164" name="Google Shape;164;p28"/>
          <p:cNvSpPr txBox="1">
            <a:spLocks noGrp="1"/>
          </p:cNvSpPr>
          <p:nvPr>
            <p:ph type="body" idx="1"/>
          </p:nvPr>
        </p:nvSpPr>
        <p:spPr>
          <a:xfrm>
            <a:off x="838200" y="1825625"/>
            <a:ext cx="10515600" cy="3992715"/>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800"/>
              <a:buChar char="•"/>
            </a:pPr>
            <a:r>
              <a:rPr lang="en-GB"/>
              <a:t>Conclusion is a forward looking statement (2-3 sentences) on the overarching implications of the study, i.e., not of the results alone but more broadly of how the problem resolution reshapes the view about the issue at hand and opens new avenues.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1134</Words>
  <Application>Microsoft Office PowerPoint</Application>
  <PresentationFormat>Widescreen</PresentationFormat>
  <Paragraphs>72</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Arial Black</vt:lpstr>
      <vt:lpstr>Office Theme</vt:lpstr>
      <vt:lpstr>Title &amp; authors</vt:lpstr>
      <vt:lpstr>Background &amp; Significance</vt:lpstr>
      <vt:lpstr>Knowledge gap</vt:lpstr>
      <vt:lpstr>Problem Statement</vt:lpstr>
      <vt:lpstr>Question</vt:lpstr>
      <vt:lpstr>Hypothesis</vt:lpstr>
      <vt:lpstr>Approach</vt:lpstr>
      <vt:lpstr>Objectives</vt:lpstr>
      <vt:lpstr>Results</vt:lpstr>
      <vt:lpstr>Discussion</vt:lpstr>
      <vt:lpstr>Impact</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Repo Joona</dc:creator>
  <cp:lastModifiedBy>Palva Matias</cp:lastModifiedBy>
  <cp:revision>2</cp:revision>
  <dcterms:created xsi:type="dcterms:W3CDTF">2022-09-13T13:48:22Z</dcterms:created>
  <dcterms:modified xsi:type="dcterms:W3CDTF">2026-02-26T09:39:34Z</dcterms:modified>
</cp:coreProperties>
</file>